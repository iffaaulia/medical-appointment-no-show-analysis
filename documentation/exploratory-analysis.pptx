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2"/>
          </a:solidFill>
          <a:ln>
            <a:solidFill>
              <a:srgbClr val="152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5F4F5"/>
                </a:solidFill>
                <a:latin typeface="Aptos"/>
              </a:rPr>
              <a:t>MEDICAL APPOINTMENT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8961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8229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4EC"/>
                </a:solidFill>
                <a:latin typeface="Aptos"/>
              </a:rPr>
              <a:t>SQL evidence used to understand appointment no-show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10195560" cy="13716"/>
          </a:xfrm>
          <a:prstGeom prst="rect">
            <a:avLst/>
          </a:prstGeom>
          <a:solidFill>
            <a:srgbClr val="3F5369"/>
          </a:solidFill>
          <a:ln>
            <a:solidFill>
              <a:srgbClr val="3F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5844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E5F4F5"/>
                </a:solidFill>
                <a:latin typeface="Aptos"/>
              </a:rPr>
              <a:t>DOCUMENTATION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13632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9 business questions • MySQL queries • result snapshots • 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9C8"/>
                </a:solidFill>
                <a:latin typeface="Aptos"/>
              </a:rPr>
              <a:t>Portfolio project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EDA questions and how to read this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72821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Overall no-show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7647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72821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Day of the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0020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17647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172821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Lead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56032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72491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268833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Age group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56032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62272" y="272491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68833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SMS reminder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56032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5592" y="272491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268833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Neighbourhood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52044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6850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64845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Previous appointment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52044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2272" y="36850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364845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Handicap / disability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520440"/>
            <a:ext cx="3364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65592" y="36850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E88"/>
                </a:solidFill>
                <a:latin typeface="Aptos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3648456"/>
            <a:ext cx="2395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323C"/>
                </a:solidFill>
                <a:latin typeface="Aptos"/>
              </a:rPr>
              <a:t>Chronic disease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846320"/>
            <a:ext cx="10972800" cy="96926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04748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7E88"/>
                </a:solidFill>
                <a:latin typeface="Aptos"/>
              </a:rPr>
              <a:t>DOCUMENTATION FORMAT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5010912"/>
            <a:ext cx="8275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A323C"/>
                </a:solidFill>
                <a:latin typeface="Aptos"/>
              </a:rPr>
              <a:t>Each section preserves the original SQL query and returned result snapshot. The takeaway line summarizes the visible result without turning the EDA into a causal claim.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What is the overall no-show rate?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Establish a baseline for appointment attendance.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108056"/>
            <a:ext cx="7232904" cy="175745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617657"/>
            <a:ext cx="3017520" cy="73825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20.19% no-show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22,314 of 110,521 appointments are recorded as no-shows in the result snapshot.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Does the day of the week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Compare no-show rates across appointment weekdays.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264" y="2377440"/>
            <a:ext cx="2864552" cy="32186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475696"/>
            <a:ext cx="3017520" cy="102217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Saturday is highest in this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Saturday shows 23.08% no-show, while Thursday shows 19.35%.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Does lead time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Compare no-show rates based on how far in advance appointments were scheduled.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512" y="2377440"/>
            <a:ext cx="4796056" cy="32186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527400"/>
            <a:ext cx="3017520" cy="91876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Long Lead is highest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Long Lead (8+ days) shows 32.06% no-show versus 4.65% for Same 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Do different age groups have different no-show rates?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Compare appointment attendance across age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057" y="2377440"/>
            <a:ext cx="2890966" cy="32186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408753"/>
            <a:ext cx="3017520" cy="115606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Teen is highest in this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Teen shows 25.95% no-show, while Senior shows 15.31%.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Is SMS reminder receipt associated with no-show rate?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Compare no-show rates for appointments with and without an SMS reminder.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504" y="2377440"/>
            <a:ext cx="4728071" cy="32186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669150"/>
            <a:ext cx="3017520" cy="63526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The groups differ in this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No SMS shows 16.70% no-show versus 27.57% for Received SMS; this is an association, not a causal test.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Which neighbourhoods show higher no-show rates?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Rank neighbourhoods with at least 100 appointments by no-show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966113"/>
            <a:ext cx="7232904" cy="204134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932117"/>
            <a:ext cx="3017520" cy="21093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Santos Dumont ranks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SANTOS DUMONT is 28.92%, followed by SANTA CECILIA at 27.46%. The query displays the top 15.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How does previous appointment history relate to current attendance?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Create prior appointment and previous no-show features for each patient appointment.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82" y="2377440"/>
            <a:ext cx="6011915" cy="32186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466680"/>
            <a:ext cx="3017520" cy="30402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Historical features are created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The window function creates prior_appointments and prior_no_shows for each current appointment; the result is patient-level evidence.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Is handicap / disability status associated with no-show rate?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Compare no-show rates for recorded handicap/disability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729" y="2377440"/>
            <a:ext cx="3885622" cy="32186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703891"/>
            <a:ext cx="3017520" cy="5657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The groups differ in this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Non-Handicap Patient shows 20.23% versus 18.09% for Handicap Patient.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SQL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How does chronic disease status relate to no-show rate?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007E88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8915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Compare no-show rates for chronic disease versus non-chronic disease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6717E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67712"/>
            <a:ext cx="745236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746" y="2377440"/>
            <a:ext cx="2689587" cy="32186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2267712"/>
            <a:ext cx="320040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709408"/>
            <a:ext cx="3017519" cy="55475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870448"/>
            <a:ext cx="10972800" cy="512064"/>
          </a:xfrm>
          <a:prstGeom prst="roundRect">
            <a:avLst>
              <a:gd name="adj" fmla="val 8000"/>
            </a:avLst>
          </a:prstGeom>
          <a:solidFill>
            <a:srgbClr val="E5F4F5"/>
          </a:solidFill>
          <a:ln>
            <a:solidFill>
              <a:srgbClr val="E5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60167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7E88"/>
                </a:solidFill>
                <a:latin typeface="Aptos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61888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52132"/>
                </a:solidFill>
                <a:latin typeface="Aptos"/>
              </a:rPr>
              <a:t>Non-chronic is higher in this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943600"/>
            <a:ext cx="7086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A323C"/>
                </a:solidFill>
                <a:latin typeface="Aptos"/>
              </a:rPr>
              <a:t>Non-Chronic Disease shows 20.92% versus 17.46% for Chronic Disease; chronic = diabetes OR hypertension.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MySQL exploratory analysis • Query and result snapshots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8"/>
          </a:solidFill>
          <a:ln>
            <a:solidFill>
              <a:srgbClr val="007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E88"/>
                </a:solidFill>
                <a:latin typeface="Aptos"/>
              </a:rPr>
              <a:t>EDA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6717E"/>
                </a:solidFill>
                <a:latin typeface="Apto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52132"/>
                </a:solidFill>
                <a:latin typeface="Aptos"/>
              </a:rPr>
              <a:t>What the SQL EDA shows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52728"/>
            <a:ext cx="10972800" cy="13716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33649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773936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7E88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93392"/>
            <a:ext cx="1463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2132"/>
                </a:solidFill>
                <a:latin typeface="Aptos"/>
              </a:rPr>
              <a:t>20.19%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020824"/>
            <a:ext cx="1572768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950" b="1">
                <a:solidFill>
                  <a:srgbClr val="2A323C"/>
                </a:solidFill>
                <a:latin typeface="Aptos"/>
              </a:rPr>
              <a:t>O</a:t>
            </a:r>
            <a:r>
              <a:rPr sz="950" b="1">
                <a:solidFill>
                  <a:srgbClr val="2A323C"/>
                </a:solidFill>
                <a:latin typeface="Aptos"/>
              </a:rPr>
              <a:t>verall</a:t>
            </a:r>
            <a:r>
              <a:rPr sz="950" b="1" dirty="0">
                <a:solidFill>
                  <a:srgbClr val="2A323C"/>
                </a:solidFill>
                <a:latin typeface="Aptos"/>
              </a:rPr>
              <a:t> no-show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27632"/>
            <a:ext cx="33649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773936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7E88"/>
                </a:solidFill>
                <a:latin typeface="Aptos"/>
              </a:rPr>
              <a:t>LEAD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993392"/>
            <a:ext cx="1463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2132"/>
                </a:solidFill>
                <a:latin typeface="Aptos"/>
              </a:rPr>
              <a:t>32.06%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020824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323C"/>
                </a:solidFill>
                <a:latin typeface="Aptos"/>
              </a:rPr>
              <a:t>Long Lead no-show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27632"/>
            <a:ext cx="33649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5592" y="1773936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7E88"/>
                </a:solidFill>
                <a:latin typeface="Aptos"/>
              </a:rPr>
              <a:t>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993392"/>
            <a:ext cx="1463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2132"/>
                </a:solidFill>
                <a:latin typeface="Aptos"/>
              </a:rPr>
              <a:t>25.95%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020824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323C"/>
                </a:solidFill>
                <a:latin typeface="Aptos"/>
              </a:rPr>
              <a:t>Teen no-show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44952"/>
            <a:ext cx="33649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191256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7E88"/>
                </a:solidFill>
                <a:latin typeface="Aptos"/>
              </a:rPr>
              <a:t>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410712"/>
            <a:ext cx="1463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2132"/>
                </a:solidFill>
                <a:latin typeface="Aptos"/>
              </a:rPr>
              <a:t>27.57%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438144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323C"/>
                </a:solidFill>
                <a:latin typeface="Aptos"/>
              </a:rPr>
              <a:t>Received SMS no-show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044952"/>
            <a:ext cx="33649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2272" y="3191256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7E88"/>
                </a:solidFill>
                <a:latin typeface="Aptos"/>
              </a:rPr>
              <a:t>DISABILITY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3410712"/>
            <a:ext cx="1463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2132"/>
                </a:solidFill>
                <a:latin typeface="Aptos"/>
              </a:rPr>
              <a:t>18.09%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438144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323C"/>
                </a:solidFill>
                <a:latin typeface="Aptos"/>
              </a:rPr>
              <a:t>Handicap Patient no-show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044952"/>
            <a:ext cx="33649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5592" y="3191256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7E88"/>
                </a:solidFill>
                <a:latin typeface="Aptos"/>
              </a:rPr>
              <a:t>CHRONIC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3410712"/>
            <a:ext cx="1463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52132"/>
                </a:solidFill>
                <a:latin typeface="Aptos"/>
              </a:rPr>
              <a:t>17.46%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438144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323C"/>
                </a:solidFill>
                <a:latin typeface="Aptos"/>
              </a:rPr>
              <a:t>Chronic Disease no-show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681728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90118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007E88"/>
                </a:solidFill>
                <a:latin typeface="Aptos"/>
              </a:rPr>
              <a:t>INTERPRETATION 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912" y="4846320"/>
            <a:ext cx="8458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23C"/>
                </a:solidFill>
                <a:latin typeface="Aptos"/>
              </a:rPr>
              <a:t>These are descriptive SQL comparisons from the cleaned dataset. They identify patterns and associations for further analysis in Power BI; they do not by themselves establish causation.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17E"/>
                </a:solidFill>
                <a:latin typeface="Aptos"/>
              </a:rPr>
              <a:t>SQL EDA documentation • Detailed evidence is retained in the analysis query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729</Words>
  <Application>Microsoft Office PowerPoint</Application>
  <PresentationFormat>Widescreen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Iffa Aulia H (DA-NAT10)</cp:lastModifiedBy>
  <cp:revision>2</cp:revision>
  <dcterms:created xsi:type="dcterms:W3CDTF">2013-01-27T09:14:16Z</dcterms:created>
  <dcterms:modified xsi:type="dcterms:W3CDTF">2026-10-01T20:42:34Z</dcterms:modified>
  <cp:category/>
</cp:coreProperties>
</file>